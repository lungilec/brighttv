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 (M)</c:v>
                </c:pt>
              </c:strCache>
            </c:strRef>
          </c:tx>
          <c:spPr>
            <a:solidFill>
              <a:srgbClr val="7C5CFF">
                <a:alpha val="6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5PM</c:v>
                  </c:pt>
                  <c:pt idx="7">
                    <c:v>6PM</c:v>
                  </c:pt>
                  <c:pt idx="8">
                    <c:v>7PM</c:v>
                  </c:pt>
                  <c:pt idx="9">
                    <c:v>8PM</c:v>
                  </c:pt>
                  <c:pt idx="10">
                    <c:v>9PM</c:v>
                  </c:pt>
                  <c:pt idx="11">
                    <c:v>10PM</c:v>
                  </c:pt>
                  <c:pt idx="12">
                    <c:v>12AM</c:v>
                  </c:pt>
                  <c:pt idx="13">
                    <c:v>2AM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0.6</c:v>
                </c:pt>
                <c:pt idx="1">
                  <c:v>1.2</c:v>
                </c:pt>
                <c:pt idx="2">
                  <c:v>1.1</c:v>
                </c:pt>
                <c:pt idx="3">
                  <c:v>1.2</c:v>
                </c:pt>
                <c:pt idx="4">
                  <c:v>1.4</c:v>
                </c:pt>
                <c:pt idx="5">
                  <c:v>2</c:v>
                </c:pt>
                <c:pt idx="6">
                  <c:v>2.8</c:v>
                </c:pt>
                <c:pt idx="7">
                  <c:v>3.4</c:v>
                </c:pt>
                <c:pt idx="8">
                  <c:v>3.9</c:v>
                </c:pt>
                <c:pt idx="9">
                  <c:v>4</c:v>
                </c:pt>
                <c:pt idx="10">
                  <c:v>3.6</c:v>
                </c:pt>
                <c:pt idx="11">
                  <c:v>2.4</c:v>
                </c:pt>
                <c:pt idx="12">
                  <c:v>1</c:v>
                </c:pt>
                <c:pt idx="13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4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4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4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4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  <c:pt idx="4">
                  <c:v>22</c:v>
                </c:pt>
                <c:pt idx="5">
                  <c:v>28</c:v>
                </c:pt>
                <c:pt idx="6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4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4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4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FF"/>
              </a:solidFill>
              <a:effectLst/>
            </c:spPr>
          </c:dPt>
          <c:dPt>
            <c:idx val="1"/>
            <c:bubble3D val="0"/>
            <c:spPr>
              <a:solidFill>
                <a:srgbClr val="00D9C0"/>
              </a:solidFill>
              <a:effectLst/>
            </c:spPr>
          </c:dPt>
          <c:dPt>
            <c:idx val="2"/>
            <c:bubble3D val="0"/>
            <c:spPr>
              <a:solidFill>
                <a:srgbClr val="FF9F43"/>
              </a:solidFill>
              <a:effectLst/>
            </c:spPr>
          </c:dPt>
          <c:dPt>
            <c:idx val="3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Live Sports</c:v>
                </c:pt>
                <c:pt idx="1">
                  <c:v>Movies</c:v>
                </c:pt>
                <c:pt idx="2">
                  <c:v>Series</c:v>
                </c:pt>
                <c:pt idx="3">
                  <c:v>News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28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firstSliceAng val="0"/>
        <c:holeSize val="60"/>
      </c:doughnutChart>
      <c:spPr>
        <a:solidFill>
          <a:srgbClr val="1A223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FF"/>
              </a:solidFill>
              <a:effectLst/>
            </c:spPr>
          </c:dPt>
          <c:dPt>
            <c:idx val="1"/>
            <c:bubble3D val="0"/>
            <c:spPr>
              <a:solidFill>
                <a:srgbClr val="00D9C0"/>
              </a:solidFill>
              <a:effectLst/>
            </c:spPr>
          </c:dPt>
          <c:dPt>
            <c:idx val="2"/>
            <c:bubble3D val="0"/>
            <c:spPr>
              <a:solidFill>
                <a:srgbClr val="5B647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8866</c:v>
                </c:pt>
                <c:pt idx="1">
                  <c:v>1018</c:v>
                </c:pt>
                <c:pt idx="2">
                  <c:v>786</c:v>
                </c:pt>
              </c:numCache>
            </c:numRef>
          </c:val>
        </c:ser>
        <c:firstSliceAng val="0"/>
        <c:holeSize val="55"/>
      </c:doughnutChart>
      <c:spPr>
        <a:solidFill>
          <a:srgbClr val="1A223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7C5CFF">
              <a:alpha val="30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D9C0">
              <a:alpha val="20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3657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BRIEFING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pPr indent="0" marL="0">
              <a:buNone/>
            </a:pPr>
            <a:r>
              <a:rPr lang="en-US" sz="7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pPr indent="0" marL="0">
              <a:buNone/>
            </a:pPr>
            <a:r>
              <a:rPr lang="en-US" sz="7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drivers and growth recommendations to expand the subscriber base — powered by user &amp; viewership data.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1371600" cy="0"/>
          </a:xfrm>
          <a:prstGeom prst="line">
            <a:avLst/>
          </a:prstGeom>
          <a:noFill/>
          <a:ln w="254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Lungile Chirwa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 ·  CVM Strategy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this quarter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core audience with clear opportunities to lift consumption and acquisition.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20116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VIEWERS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8PM Golden Hour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103120"/>
            <a:ext cx="73152" cy="2011680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2044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avg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103120"/>
            <a:ext cx="73152" cy="20116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WATCH DURATION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3.2h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35508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210312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0" y="2103120"/>
            <a:ext cx="73152" cy="201168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8972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18972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972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74552" cy="1554480"/>
          </a:xfrm>
          <a:prstGeom prst="roundRect">
            <a:avLst>
              <a:gd name="adj" fmla="val 7059"/>
            </a:avLst>
          </a:prstGeom>
          <a:solidFill>
            <a:srgbClr val="121826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80560"/>
            <a:ext cx="73152" cy="15544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617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drive Q4 growth: tactical mid-week programming, sports-led off-peak strategy, and targeted female + regional acquisition.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PATTERNS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peaks at 8PM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Hours (5PM–10PM) drive 60% of daily consumption — 4M concurrent viewers at peak.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2011680"/>
            <a:ext cx="32461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03920" y="2011680"/>
            <a:ext cx="73152" cy="12801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WINDOW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5PM – 10PM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engagement window. Premium ad slots and new releases land here.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03920" y="3429000"/>
            <a:ext cx="32461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3920" y="3429000"/>
            <a:ext cx="73152" cy="12801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3520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LULL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68680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 – 3PM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gap to fill with replays and a daily talk show.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03920" y="4846320"/>
            <a:ext cx="32461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4846320"/>
            <a:ext cx="73152" cy="1280160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0" y="4937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686800" y="5166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11PM – 4AM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0" y="5532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drop — opportunity for binge-driven series releases.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MIX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patterns &amp; content categories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peaks at 28% — Tuesday is the weakest day at 12%. Live Sports leads engagement at 45%.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7132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03520"/>
            <a:ext cx="3520440" cy="822960"/>
          </a:xfrm>
          <a:prstGeom prst="roundRect">
            <a:avLst>
              <a:gd name="adj" fmla="val 13333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5303520"/>
            <a:ext cx="73152" cy="8229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394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(LOWEST)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103120" y="5715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18% vs avg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080" y="5303520"/>
            <a:ext cx="3520440" cy="822960"/>
          </a:xfrm>
          <a:prstGeom prst="roundRect">
            <a:avLst>
              <a:gd name="adj" fmla="val 13333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9080" y="5303520"/>
            <a:ext cx="73152" cy="82296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5394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(PEAK)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51960" y="5623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15000" y="5715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15% vs avg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201168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CATEGORY MIX</a:t>
            </a:r>
            <a:endParaRPr lang="en-US" sz="10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8001000" y="2468880"/>
          <a:ext cx="35661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8001000" y="4892040"/>
            <a:ext cx="164592" cy="16459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515600" y="4846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001000" y="5184648"/>
            <a:ext cx="164592" cy="164592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0" y="5138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515600" y="5138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001000" y="5477256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0" y="5431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515600" y="54315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001000" y="5769864"/>
            <a:ext cx="164592" cy="164592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29600" y="5724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515600" y="5724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users dominate at 83% of identified sessions — female represents the largest acquisition opportunity.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640080" y="2194560"/>
          <a:ext cx="4663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2011680"/>
            <a:ext cx="59893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0" y="2011680"/>
            <a:ext cx="73152" cy="12801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8,866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9436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8,761 sessions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5760720" y="3429000"/>
            <a:ext cx="59893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3429000"/>
            <a:ext cx="73152" cy="1280160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1,018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9436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 sessions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200" dirty="0"/>
          </a:p>
        </p:txBody>
      </p:sp>
      <p:sp>
        <p:nvSpPr>
          <p:cNvPr id="20" name="Shape 17"/>
          <p:cNvSpPr/>
          <p:nvPr/>
        </p:nvSpPr>
        <p:spPr>
          <a:xfrm>
            <a:off x="5760720" y="4846320"/>
            <a:ext cx="5989320" cy="1280160"/>
          </a:xfrm>
          <a:prstGeom prst="roundRect">
            <a:avLst>
              <a:gd name="adj" fmla="val 857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4846320"/>
            <a:ext cx="73152" cy="1280160"/>
          </a:xfrm>
          <a:prstGeom prst="rect">
            <a:avLst/>
          </a:prstGeom>
          <a:solidFill>
            <a:srgbClr val="5B6478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4983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0" y="5212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94360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sessions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0" y="5257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FOOTPRINT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distribution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at 42% — Free State and Northern Cape are significantly under-penetrated.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772400" cy="4297680"/>
          </a:xfrm>
          <a:prstGeom prst="roundRect">
            <a:avLst>
              <a:gd name="adj" fmla="val 2553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267712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267712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2194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706624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706624"/>
            <a:ext cx="2351314" cy="18288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6334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723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3145536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145536"/>
            <a:ext cx="2090057" cy="18288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0723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Cape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584448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584448"/>
            <a:ext cx="1306286" cy="182880"/>
          </a:xfrm>
          <a:prstGeom prst="roundRect">
            <a:avLst>
              <a:gd name="adj" fmla="val 25000"/>
            </a:avLst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51129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50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Mpumalanga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4023360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023360"/>
            <a:ext cx="653143" cy="182880"/>
          </a:xfrm>
          <a:prstGeom prst="roundRect">
            <a:avLst>
              <a:gd name="adj" fmla="val 25000"/>
            </a:avLst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9502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Limpopo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462272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462272"/>
            <a:ext cx="522514" cy="182880"/>
          </a:xfrm>
          <a:prstGeom prst="roundRect">
            <a:avLst>
              <a:gd name="adj" fmla="val 25000"/>
            </a:avLst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389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8280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West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901184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4901184"/>
            <a:ext cx="391886" cy="182880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8280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266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5340096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5340096"/>
            <a:ext cx="195943" cy="182880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52669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7058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0" y="5779008"/>
            <a:ext cx="5486400" cy="18288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5779008"/>
            <a:ext cx="91440" cy="182880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57058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201168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011680"/>
            <a:ext cx="73152" cy="13258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PROVINCES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68680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KZN + Western Cape concentrate the audience.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03920" y="347472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3474720"/>
            <a:ext cx="73152" cy="1325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868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68680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 + Northern Cape combined — bundle with telcos.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03920" y="493776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3920" y="4937760"/>
            <a:ext cx="73152" cy="1325880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5029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PROVINCES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686800" y="5257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686800" y="5715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national footprint — depth varies sharply.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daily actions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activations to capture the 5PM–8PM peak engagement window.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2A344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85900" y="3383280"/>
            <a:ext cx="548640" cy="54864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51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social media campaigns across IG, TikTok and 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4820" y="3383280"/>
            <a:ext cx="548640" cy="54864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48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2103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246120" y="4114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251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personalized push notifications to dormant users.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63740" y="3383280"/>
            <a:ext cx="548640" cy="54864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37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PM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035040" y="4114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251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new episodes and exclusive premieres.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52660" y="338328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266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23960" y="210312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823960" y="4114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42519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 — premium ad slots &amp; sponsor integrations.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760720"/>
            <a:ext cx="11274552" cy="548640"/>
          </a:xfrm>
          <a:prstGeom prst="roundRect">
            <a:avLst>
              <a:gd name="adj" fmla="val 20000"/>
            </a:avLst>
          </a:prstGeom>
          <a:solidFill>
            <a:srgbClr val="121826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daily consumption flows through this 5-hour window. Concentrate spend, content drops, and CRM here.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actions for the CVM team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campaigns sequenced to deliver measurable lift in Q4.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945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7C5CFF">
              <a:alpha val="30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17720" y="2176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Tuesday Campaign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themed weekly programming with exclusive sports replays and double loyalty points for 60+ min viewers.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201168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2011680"/>
            <a:ext cx="73152" cy="2011680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1945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0D9C0">
              <a:alpha val="3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360152" y="2176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60152" y="2514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2651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Sports Strategy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28232" y="31546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sports content (45% of engagement) to fill the 10:00–15:00 lull with replays and a daily talk show.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0116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389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9F43">
              <a:alpha val="30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17720" y="4370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48463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Audience Acquisition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Instagram &amp; Facebook campaigns plus a 'Women of BrightTV' content rail to rebalance the audience.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420624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A2234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4206240"/>
            <a:ext cx="73152" cy="201168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4389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5C7A">
              <a:alpha val="30000"/>
            </a:srgbClr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360152" y="43708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360152" y="4709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28232" y="48463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28232" y="534924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marketing and telco bundling to unlock Free State and Northern Cape markets.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Insights · Q4 2025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7C5CFF">
              <a:alpha val="25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00D9C0">
              <a:alpha val="20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36576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core, sharper edges.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scheduling and targeted campaigns will lift consumption among existing viewers and unlock under-served segments — female users and southern provinces.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9377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5486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Tuesday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weakest day with themed programming.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49377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26280" y="5486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45% engagement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49377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66760" y="5486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+ Regional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acquisition for under-served segments.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Lungile Chirwa  ·  BrightTV CVM  ·  Q4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Insights</dc:title>
  <dc:subject>PptxGenJS Presentation</dc:subject>
  <dc:creator>Lungile Chirwa</dc:creator>
  <cp:lastModifiedBy>Lungile Chirwa</cp:lastModifiedBy>
  <cp:revision>1</cp:revision>
  <dcterms:created xsi:type="dcterms:W3CDTF">2026-04-20T18:23:16Z</dcterms:created>
  <dcterms:modified xsi:type="dcterms:W3CDTF">2026-04-20T18:23:16Z</dcterms:modified>
</cp:coreProperties>
</file>